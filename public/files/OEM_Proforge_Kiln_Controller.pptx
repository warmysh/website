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mailto:md@proforge.ru" TargetMode="External"/><Relationship Id="rId2" Type="http://schemas.openxmlformats.org/officeDocument/2006/relationships/hyperlink" Target="https://proforge.ru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201168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OEM-ПРЕДЛОЖЕНИЕ  • 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0" kern="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PROFORGE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Контроллер обжига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нового поколения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640080" y="3657600"/>
            <a:ext cx="82296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794760"/>
            <a:ext cx="694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Безопасность, глубокая диагностика и цифровой опыт — готовый модуль для производителей электрических печей. Полностью спроектирован и разработан в России.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5394960"/>
            <a:ext cx="3840480" cy="411480"/>
          </a:xfrm>
          <a:prstGeom prst="roundRect">
            <a:avLst>
              <a:gd name="adj" fmla="val 13333"/>
            </a:avLst>
          </a:prstGeom>
          <a:solidFill>
            <a:srgbClr val="232A3D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394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Разработано в России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17720" y="539496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232A3D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5394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1300 °C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49440" y="5394960"/>
            <a:ext cx="2852928" cy="411480"/>
          </a:xfrm>
          <a:prstGeom prst="roundRect">
            <a:avLst>
              <a:gd name="adj" fmla="val 13333"/>
            </a:avLst>
          </a:prstGeom>
          <a:solidFill>
            <a:srgbClr val="232A3D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539496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+ облако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OEM-партнёров   •   Версия v1.5.x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430000" y="6217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 НА РЫНКЕ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меняется в нише электрических печей обжига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83080"/>
            <a:ext cx="5349240" cy="214884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64008" cy="214884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574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03911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как стандарт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6974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Конечный заказчик ждёт защиту от перегрева, отказа датчика, залипания силового ключа и износа спирали — не как опцию, а как базу.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1783080"/>
            <a:ext cx="5349240" cy="214884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55080" y="1783080"/>
            <a:ext cx="64008" cy="214884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574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03911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опыт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629400" y="26974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веб-интерфейс, удалённый мониторинг и облако становятся новой нормой даже для небольших мастерских и учебных классов.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" y="4160520"/>
            <a:ext cx="5349240" cy="214884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2920" y="4160520"/>
            <a:ext cx="64008" cy="214884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3484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41655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Премиум-функции по разумной цене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777240" y="50749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бюджетных моделей ждут «умного» поведения: история обжигов, конструктор программ, уведомления о завершении и авариях.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355080" y="4160520"/>
            <a:ext cx="5349240" cy="214884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55080" y="4160520"/>
            <a:ext cx="64008" cy="214884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43484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441655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Простота для оператора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629400" y="50749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Керамист или художник — не инженер. Контроллер должен прощать ошибки, ясно сообщать о состоянии и не требовать обучения.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Proforge Kiln Controller  •  OEM-предложение  •  2026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OEM-модуль для вашей печи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830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Контроллер собран как самостоятельный продукт уровня премиум — но поставляется производителю печей как единый модуль с настройкой под конкретную модель.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474720"/>
            <a:ext cx="5303520" cy="278892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3474720"/>
            <a:ext cx="64008" cy="27889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построения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российская разработка: схемотехника и ПО.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нагрев не зависят от UI, сети и сервисных функций.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любой неопределённости контроллер останавливает нагрев.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модель печи — отдельная заводская конфигурация.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Облачные сервисы — publish-only: команды снаружи в печь не идут.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783080"/>
            <a:ext cx="2926080" cy="219456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01168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30936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09360" y="30175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Двухуровневое отключение,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логика, защёлка аварии.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89720" y="1783080"/>
            <a:ext cx="2926080" cy="219456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01168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41832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9418320" y="30175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тока и термопары,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раннее обнаружение износа.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080760" y="4160520"/>
            <a:ext cx="2926080" cy="219456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38912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4983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Цифровизация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09360" y="53949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веб-интерфейс,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 и мобильное приложение.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189720" y="4160520"/>
            <a:ext cx="2926080" cy="219456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438912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18320" y="4983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OEM-интеграция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418320" y="53949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плата, настройка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модель, простой монтаж.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1148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Proforge Kiln Controller  •  OEM-предложение  •  2026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независимых размыкателя силовой цепи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830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канал самостоятельно способен разорвать цепь нагревателя. При любой критической ошибке отключаются оба.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5532120" cy="342900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834640"/>
            <a:ext cx="64008" cy="34290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175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1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301752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3337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Твердотельное реле (SSR)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31520" y="3794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Программный канал — точное регулирование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4206240"/>
            <a:ext cx="5074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Контроллер модулирует мощность медленным PWM, минимально нагружая SSR и сетевую цепь. ПИД-алгоритм удерживает уставку без перерегулирования и предсказуемо реагирует на возмущения.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2834640"/>
            <a:ext cx="5532120" cy="342900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63640" y="2834640"/>
            <a:ext cx="64008" cy="34290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30175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2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301752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92240" y="3337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Механическое реле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492240" y="3794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Аварийный размыкатель — независимый канал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92240" y="4206240"/>
            <a:ext cx="5074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Нормально разомкнутое механическое реле полностью разрывает силовую цепь при любой критической неисправности или потере питания. Программный канал не может включить нагрев в обход аварийного реле.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263640" y="1783080"/>
            <a:ext cx="5532120" cy="914400"/>
          </a:xfrm>
          <a:prstGeom prst="rect">
            <a:avLst/>
          </a:prstGeom>
          <a:solidFill>
            <a:srgbClr val="232A3D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65960"/>
            <a:ext cx="594360" cy="5943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178040" y="18288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«Лучше безопасно остановиться,</a:t>
            </a:r>
            <a:endParaRPr lang="en-US" sz="1400" dirty="0"/>
          </a:p>
          <a:p>
            <a:pPr indent="0" marL="0">
              <a:buNone/>
            </a:pPr>
            <a:r>
              <a:rPr lang="en-US" sz="1400" b="1" i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догадаться и пережечь»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1148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Proforge Kiln Controller  •  OEM-предложение  •  2026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И ВОССТАНОВЛЕНИЕ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Самотестирование и умное продолжение программы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830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Контроллер физически не имеет права включить нагрев, пока не пройден полный SELFTEST. После сбоя питания обжиг возвращается к программе плавно — без температурных скачков.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6400800" cy="352044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743200"/>
            <a:ext cx="64008" cy="352044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проверяется автоматически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Файловая система и целостность конфигурации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температуры и валидность термопары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 управления (нет залипания)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контроля тока и связь с ним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Утечка тока в выключенном состоянии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Срабатывание SSR и аварийного реле, замер эталонного тока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реального времени и условия восстановления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2743200"/>
            <a:ext cx="4617720" cy="160020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97180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01000" y="2971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 тока на месте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406640" y="35204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Контроллер сам замеряет реальный ток конкретного нагревателя и использует его как эталон для контроля износа. Калибровка не может изменить класс печи.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78040" y="4480560"/>
            <a:ext cx="4617720" cy="17830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70916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01000" y="47091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Умное восстановление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406640" y="52578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перерыв (в пределах допустимого интервала) — печь сама продолжает обжиг и плавно возвращается на расчётную кривую без перегрева. Дольше — решение принимает оператор. После аварии или штатной остановки восстановление недоступно.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1148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Proforge Kiln Controller  •  OEM-предложение  •  2026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ЗАЩИТЫ В РЕАЛЬНОМ ВРЕМЕНИ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Восемь категорий критических ошибок → немедленный STOP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91640"/>
            <a:ext cx="2788920" cy="214884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278892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9280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2404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Абсолютный перегрев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04088" y="3063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Жёсткий порог — печь не уйдёт за конструктивный предел.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29000" y="1691640"/>
            <a:ext cx="2788920" cy="214884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1691640"/>
            <a:ext cx="278892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89280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2404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Перегрев относительно уставки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630168" y="3063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Программный разгон выше заданной кривой пресекается.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355080" y="1691640"/>
            <a:ext cx="2788920" cy="214884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55080" y="1691640"/>
            <a:ext cx="278892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89280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56248" y="2404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датчика температуры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556248" y="3063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fault-битов и согласованности показаний.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281160" y="1691640"/>
            <a:ext cx="2788920" cy="214884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81160" y="1691640"/>
            <a:ext cx="278892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1892808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82328" y="2404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Залипание силового ключа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482328" y="3063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тока при выключенном нагреве.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02920" y="3977640"/>
            <a:ext cx="2788920" cy="214884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02920" y="3977640"/>
            <a:ext cx="278892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178808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4088" y="4690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Обрыв цепи нагревателя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704088" y="5349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тока на полной мощности — без нагрева нет тока.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3429000" y="3977640"/>
            <a:ext cx="2788920" cy="214884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429000" y="3977640"/>
            <a:ext cx="278892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0168" y="4178808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630168" y="4690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Сильная деградация спирали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3630168" y="5349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 ниже эталонной границы — обжиг останавливается.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355080" y="3977640"/>
            <a:ext cx="2788920" cy="214884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355080" y="3977640"/>
            <a:ext cx="278892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4178808"/>
            <a:ext cx="411480" cy="4114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556248" y="4690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Зависание датчика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6556248" y="5349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 «не дышит» при активном нагреве.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9281160" y="3977640"/>
            <a:ext cx="2788920" cy="214884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281160" y="3977640"/>
            <a:ext cx="278892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2328" y="4178808"/>
            <a:ext cx="411480" cy="41148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482328" y="46908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Аномальная динамика температуры</a:t>
            </a:r>
            <a:endParaRPr lang="en-US" sz="1250" dirty="0"/>
          </a:p>
        </p:txBody>
      </p:sp>
      <p:sp>
        <p:nvSpPr>
          <p:cNvPr id="45" name="Text 35"/>
          <p:cNvSpPr/>
          <p:nvPr/>
        </p:nvSpPr>
        <p:spPr>
          <a:xfrm>
            <a:off x="9482328" y="5349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Резкие провалы и срывы режима фиксируются и пресекаются.</a:t>
            </a:r>
            <a:endParaRPr lang="en-US" sz="950" dirty="0"/>
          </a:p>
        </p:txBody>
      </p:sp>
      <p:sp>
        <p:nvSpPr>
          <p:cNvPr id="46" name="Text 36"/>
          <p:cNvSpPr/>
          <p:nvPr/>
        </p:nvSpPr>
        <p:spPr>
          <a:xfrm>
            <a:off x="502920" y="61722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Дополнительно: предупреждения без остановки — ранняя деградация спирали, перегрев электроники, медленный разгон. Оператор знает заранее.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41148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Proforge Kiln Controller  •  OEM-предложение  •  2026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ЦИФРОВОЙ ОПЫТ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веб-интерфейс и видимое обновление прошивки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83080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сети владельца контроллер открыт как настоящий веб-сервис: мониторинг, конструктор программ, журнал обжигов. Облачные функции — на отдельном слайде.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3703320" cy="17830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94436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2.4 ГГц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4088" y="35204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 локальной сети владельца. Внешняя антенна для металлических корпусов.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2743200"/>
            <a:ext cx="3703320" cy="17830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94436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44568" y="35204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температуры, тока, состояния и программы. Доступен с телефона, планшета, ПК.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83880" y="2743200"/>
            <a:ext cx="3703320" cy="17830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294436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 программ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85048" y="35204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 правка программ обжига в браузере. Открытый формат — легко переносить и архивировать.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4663440"/>
            <a:ext cx="3703320" cy="17830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86460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обжигов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04088" y="54406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стартов, завершений и аварий с параметрами. Доступен локально через веб-интерфейс.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43400" y="4663440"/>
            <a:ext cx="3703320" cy="17830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4864608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6636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Звуковая сигнализация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4544568" y="54406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 INFO / WARNING / ALARM. Мелодия завершения с повтором каждые 30 с.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8183880" y="4663440"/>
            <a:ext cx="3703320" cy="17830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4864608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00684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с экранной индикацией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8385048" y="54406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только вручную и только в IDLE. На экране — этапы прогресса и результат.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41148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Proforge Kiln Controller  •  OEM-предложение  •  2026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И ДИАГНОСТИКА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Понятное обслуживание у мастера или в сервисе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83080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Сервисное меню вызывается с физических кнопок только из состояния ГОТОВ. Все калибровки и тесты доступны без подключения внешних приборов.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2788920" cy="33832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743200"/>
            <a:ext cx="278892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0175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 нагревателя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45262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Замер эталонного тока I_ref, безопасная замена спирали с автоопределением параметров. Калибровка не может изменить класс печи.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10712" y="2743200"/>
            <a:ext cx="2788920" cy="33832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10712" y="2743200"/>
            <a:ext cx="278892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301752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39312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 термопары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39312" y="45262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корректировка offset показаний температуры. Доступен сброс к заводскому значению одним действием.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318504" y="2743200"/>
            <a:ext cx="2788920" cy="33832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18504" y="2743200"/>
            <a:ext cx="278892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301752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47104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 диагностика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547104" y="45262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5-секундный тест силовой цепи и датчиков. Показывает напряжение, ток, мощность и статус модулей в реальном времени.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226296" y="2743200"/>
            <a:ext cx="2788920" cy="33832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26296" y="2743200"/>
            <a:ext cx="278892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301752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54896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Информации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454896" y="45262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печи, версия прошивки, наработка, эталонный ток, состояние памяти, серийный номер для сервиса.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1148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Proforge Kiln Controller  •  OEM-предложение  •  2026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 PROFORGE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Печь онлайн: мониторинг, история, уведомления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8308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Облачные сервисы только публикуют состояние и шлют уведомления — снаружи в печь команды не идут. Включены в стандарт, без отдельных лицензий и серверов на стороне OEM.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3703320" cy="17830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94436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Live-мониторинг ≤ 60 с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4088" y="35204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Температура, ток, программа и текущий сегмент обновляются в облаке быстрее, чем за минуту. График «программа vs факт» в реальном времени.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2743200"/>
            <a:ext cx="3703320" cy="17830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94436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обжигов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44568" y="35204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журнал с параметрами и причиной завершения. Стабильная идентичность сессии — переживает перезагрузки и сбои питания.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83880" y="2743200"/>
            <a:ext cx="3703320" cy="17830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294436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типов уведомлений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85048" y="35204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Старт, успешное завершение, штатная остановка, авария, отклонение от уставки, достижение заданной температуры.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4663440"/>
            <a:ext cx="3703320" cy="17830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86460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отклонения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04088" y="54406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 по каждой печи: задайте порог 5–300 °C — оператор узнает о выходе за коридор быстрее, чем заметит сам.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343400" y="4663440"/>
            <a:ext cx="3703320" cy="17830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4864608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6636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/ приложение на телефоне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4544568" y="54406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 устанавливается как иконка на смартфон. Web Push уведомления и Notification Center с историей.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8183880" y="4663440"/>
            <a:ext cx="3703320" cy="17830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4864608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006840" y="4846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через QR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8385048" y="544068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Печь показывает QR на экране — владелец сканирует, проходит подтверждение почты и видит печь в «Мои печи». Без ручных вводов.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502920" y="6400800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доставки: Email и Web Push. Telegram / мобильные приложения — в дорожной карте.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41148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Proforge Kiln Controller  •  OEM-предложение  •  2026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ПРОГРАММЫ ОБЖИГА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Гибкие профили нагрева — для готовых линеек и заказчиков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83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программы: «Керамика 1150» — типовой цикл бисквит + утиль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94560"/>
          <a:ext cx="6949440" cy="365760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1463040"/>
                <a:gridCol w="146304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СКОРОСТЬ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ВЫДЕРЖКА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ФАЗА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80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30 °C/ч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 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Сушка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40 °C/ч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мин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Прогрев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80 °C/ч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мин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Дегазация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°C/ч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1 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Уплотнение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1150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°C/ч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Обжиг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−150 °C/ч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Охлаждение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−150 °C/ч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6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Финиш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18120" y="1783080"/>
            <a:ext cx="4023360" cy="141732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9659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0" y="19476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 в браузере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00100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— последовательность сегментов RAMP/HOLD. Создать, проверить, поделиться файлом.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818120" y="3337560"/>
            <a:ext cx="4023360" cy="141732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5204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95360" y="3502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Заводские профили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00100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бренд OEM можно поставлять готовый набор «официальных» программ для типовых задач.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818120" y="4892040"/>
            <a:ext cx="4023360" cy="141732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50749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95360" y="50566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Гарантии запуска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001000" y="5623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программы — только с физической панели. Сеть и облако никогда не включают нагрев.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1148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Proforge Kiln Controller  •  OEM-предложение  •  2026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OEM-ИНТЕГРАЦИЯ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модуль — минимум работы со стороны производителя печи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83080"/>
            <a:ext cx="6858000" cy="448056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64008" cy="448056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входит в OEM-поставку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542032"/>
            <a:ext cx="201168" cy="20116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46888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плата контроллера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788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встроенным AC-DC питанием 220 В, аварийным реле, модулем контроля тока и Wi-Fi с внешней антенной.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3319272"/>
            <a:ext cx="201168" cy="20116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24612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Заводская прошивка под модель печи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5661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модель печи — отдельная конфигурация: максимальная температура, мощность, пороги защит, набор программ. Калибровка не может изменить класс печи.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096512"/>
            <a:ext cx="201168" cy="20116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02336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программы под бренд OEM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343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«официальных» профилей (керамика, эмаль, стекло, ювелирные задачи) поставляется вместе с устройством.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4873752"/>
            <a:ext cx="201168" cy="20116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80060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Пользовательская документация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120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Руководство по эксплуатации и техническое описание для интегратора — на русском, с маркетинговой косметикой под бренд OEM.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5650992"/>
            <a:ext cx="201168" cy="201168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557784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Облачные сервисы из коробки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897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печи через QR; владелец видит свою печь в «Мои печи». Без отдельных лицензий и серверов на стороне OEM.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35240" y="1783080"/>
            <a:ext cx="4206240" cy="4480560"/>
          </a:xfrm>
          <a:prstGeom prst="rect">
            <a:avLst/>
          </a:prstGeom>
          <a:solidFill>
            <a:srgbClr val="232A3D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920240"/>
            <a:ext cx="502920" cy="5029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412480" y="1920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ответственности OEM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818120" y="2606040"/>
            <a:ext cx="39319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 печи и теплоизоляция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Нагревательная спираль выбранного класса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SSR и его теплоотвод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Силовая разводка, автомат и УЗО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Заземление и соответствие электронормам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сборка и приёмка по чек-листу производителя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1148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Proforge Kiln Controller  •  OEM-предложение  •  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ПОЗИЦИОНИРОВАНИЕ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рынок и мировой премиум-уровень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276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Российские контроллеры печей обжига как класс не имеют сетевых сервисов. Зарубежный премиум-сегмент закрывает часть этих задач за заметные деньги. Proforge Kiln Controller выводит весь набор функций на мировой премиум-уровень — при этом полностью разработан в России.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2834640" cy="457200"/>
          </a:xfrm>
          <a:prstGeom prst="rect">
            <a:avLst/>
          </a:prstGeom>
          <a:solidFill>
            <a:srgbClr val="232A3D"/>
          </a:solidFill>
          <a:ln w="9525">
            <a:solidFill>
              <a:srgbClr val="2E36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233172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2331720"/>
            <a:ext cx="2743200" cy="457200"/>
          </a:xfrm>
          <a:prstGeom prst="rect">
            <a:avLst/>
          </a:prstGeom>
          <a:solidFill>
            <a:srgbClr val="232A3D"/>
          </a:solidFill>
          <a:ln w="9525">
            <a:solidFill>
              <a:srgbClr val="2E36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23317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РФ-РЫНОК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2331720"/>
            <a:ext cx="2743200" cy="457200"/>
          </a:xfrm>
          <a:prstGeom prst="rect">
            <a:avLst/>
          </a:prstGeom>
          <a:solidFill>
            <a:srgbClr val="232A3D"/>
          </a:solidFill>
          <a:ln w="9525">
            <a:solidFill>
              <a:srgbClr val="2E36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23317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ЗАРУБЕЖНЫЙ ПРЕМИУМ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823960" y="2331720"/>
            <a:ext cx="3520440" cy="457200"/>
          </a:xfrm>
          <a:prstGeom prst="rect">
            <a:avLst/>
          </a:prstGeom>
          <a:solidFill>
            <a:srgbClr val="2E1A0E"/>
          </a:solidFill>
          <a:ln w="9525">
            <a:solidFill>
              <a:srgbClr val="2E36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3960" y="2331720"/>
            <a:ext cx="352044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15" name="Text 13"/>
          <p:cNvSpPr/>
          <p:nvPr/>
        </p:nvSpPr>
        <p:spPr>
          <a:xfrm>
            <a:off x="8933688" y="2331720"/>
            <a:ext cx="3300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PROFORGE KILN CONTROLLER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2834640" cy="384048"/>
          </a:xfrm>
          <a:prstGeom prst="rect">
            <a:avLst/>
          </a:prstGeom>
          <a:solidFill>
            <a:srgbClr val="1A203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278892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тока нагревателя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2788920"/>
            <a:ext cx="2743200" cy="384048"/>
          </a:xfrm>
          <a:prstGeom prst="rect">
            <a:avLst/>
          </a:prstGeom>
          <a:solidFill>
            <a:srgbClr val="1A203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27889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правило отсутствует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2788920"/>
            <a:ext cx="2743200" cy="384048"/>
          </a:xfrm>
          <a:prstGeom prst="rect">
            <a:avLst/>
          </a:prstGeom>
          <a:solidFill>
            <a:srgbClr val="1A203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27889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 как опция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23960" y="2788920"/>
            <a:ext cx="3520440" cy="384048"/>
          </a:xfrm>
          <a:prstGeom prst="rect">
            <a:avLst/>
          </a:prstGeom>
          <a:solidFill>
            <a:srgbClr val="1E161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33688" y="2788920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Базово: обрыв, залипание, износ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172968"/>
            <a:ext cx="2834640" cy="384048"/>
          </a:xfrm>
          <a:prstGeom prst="rect">
            <a:avLst/>
          </a:prstGeom>
          <a:solidFill>
            <a:srgbClr val="151B2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317296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Двухуровневое отключение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3172968"/>
            <a:ext cx="2743200" cy="384048"/>
          </a:xfrm>
          <a:prstGeom prst="rect">
            <a:avLst/>
          </a:prstGeom>
          <a:solidFill>
            <a:srgbClr val="151B2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31729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Чаще один канал (SSR/реле)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3172968"/>
            <a:ext cx="2743200" cy="384048"/>
          </a:xfrm>
          <a:prstGeom prst="rect">
            <a:avLst/>
          </a:prstGeom>
          <a:solidFill>
            <a:srgbClr val="151B2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0488" y="31729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Встречается в премиум-моделях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823960" y="3172968"/>
            <a:ext cx="3520440" cy="384048"/>
          </a:xfrm>
          <a:prstGeom prst="rect">
            <a:avLst/>
          </a:prstGeom>
          <a:solidFill>
            <a:srgbClr val="180F0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33688" y="3172968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Стандарт: SSR + аварийное реле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3557016"/>
            <a:ext cx="2834640" cy="384048"/>
          </a:xfrm>
          <a:prstGeom prst="rect">
            <a:avLst/>
          </a:prstGeom>
          <a:solidFill>
            <a:srgbClr val="1A203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3557016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Самотестирование перед стартом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37560" y="3557016"/>
            <a:ext cx="2743200" cy="384048"/>
          </a:xfrm>
          <a:prstGeom prst="rect">
            <a:avLst/>
          </a:prstGeom>
          <a:solidFill>
            <a:srgbClr val="1A203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47288" y="355701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или формальная проверка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3557016"/>
            <a:ext cx="2743200" cy="384048"/>
          </a:xfrm>
          <a:prstGeom prst="rect">
            <a:avLst/>
          </a:prstGeom>
          <a:solidFill>
            <a:srgbClr val="1A203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355701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проверка датчиков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823960" y="3557016"/>
            <a:ext cx="3520440" cy="384048"/>
          </a:xfrm>
          <a:prstGeom prst="rect">
            <a:avLst/>
          </a:prstGeom>
          <a:solidFill>
            <a:srgbClr val="1E161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33688" y="3557016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SELFTEST оборудования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3941064"/>
            <a:ext cx="2834640" cy="384048"/>
          </a:xfrm>
          <a:prstGeom prst="rect">
            <a:avLst/>
          </a:prstGeom>
          <a:solidFill>
            <a:srgbClr val="151B2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" y="394106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Защёлка аварии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37560" y="3941064"/>
            <a:ext cx="2743200" cy="384048"/>
          </a:xfrm>
          <a:prstGeom prst="rect">
            <a:avLst/>
          </a:prstGeom>
          <a:solidFill>
            <a:srgbClr val="151B2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47288" y="394106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авторестарт после остывания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80760" y="3941064"/>
            <a:ext cx="2743200" cy="384048"/>
          </a:xfrm>
          <a:prstGeom prst="rect">
            <a:avLst/>
          </a:prstGeom>
          <a:solidFill>
            <a:srgbClr val="151B2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0488" y="394106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823960" y="3941064"/>
            <a:ext cx="3520440" cy="384048"/>
          </a:xfrm>
          <a:prstGeom prst="rect">
            <a:avLst/>
          </a:prstGeom>
          <a:solidFill>
            <a:srgbClr val="180F0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33688" y="3941064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Жёсткая блокировка до подтверждения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" y="4325112"/>
            <a:ext cx="2834640" cy="384048"/>
          </a:xfrm>
          <a:prstGeom prst="rect">
            <a:avLst/>
          </a:prstGeom>
          <a:solidFill>
            <a:srgbClr val="1A203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" y="4325112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/ веб-интерфейс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337560" y="4325112"/>
            <a:ext cx="2743200" cy="384048"/>
          </a:xfrm>
          <a:prstGeom prst="rect">
            <a:avLst/>
          </a:prstGeom>
          <a:solidFill>
            <a:srgbClr val="1A203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47288" y="432511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Отсутствует у большинства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80760" y="4325112"/>
            <a:ext cx="2743200" cy="384048"/>
          </a:xfrm>
          <a:prstGeom prst="rect">
            <a:avLst/>
          </a:prstGeom>
          <a:solidFill>
            <a:srgbClr val="1A203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0488" y="432511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Опция за доплату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823960" y="4325112"/>
            <a:ext cx="3520440" cy="384048"/>
          </a:xfrm>
          <a:prstGeom prst="rect">
            <a:avLst/>
          </a:prstGeom>
          <a:solidFill>
            <a:srgbClr val="1E161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33688" y="432511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Включено в стандарт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02920" y="4709160"/>
            <a:ext cx="2834640" cy="384048"/>
          </a:xfrm>
          <a:prstGeom prst="rect">
            <a:avLst/>
          </a:prstGeom>
          <a:solidFill>
            <a:srgbClr val="151B2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2648" y="4709160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Облачный мониторинг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337560" y="4709160"/>
            <a:ext cx="2743200" cy="384048"/>
          </a:xfrm>
          <a:prstGeom prst="rect">
            <a:avLst/>
          </a:prstGeom>
          <a:solidFill>
            <a:srgbClr val="151B2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47288" y="470916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 не представлен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080760" y="4709160"/>
            <a:ext cx="2743200" cy="384048"/>
          </a:xfrm>
          <a:prstGeom prst="rect">
            <a:avLst/>
          </a:prstGeom>
          <a:solidFill>
            <a:srgbClr val="151B2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90488" y="470916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Платная подписка / экосистема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823960" y="4709160"/>
            <a:ext cx="3520440" cy="384048"/>
          </a:xfrm>
          <a:prstGeom prst="rect">
            <a:avLst/>
          </a:prstGeom>
          <a:solidFill>
            <a:srgbClr val="180F0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33688" y="4709160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Включён, без отдельной оплаты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02920" y="5093208"/>
            <a:ext cx="2834640" cy="384048"/>
          </a:xfrm>
          <a:prstGeom prst="rect">
            <a:avLst/>
          </a:prstGeom>
          <a:solidFill>
            <a:srgbClr val="1A203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2648" y="509320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обжигов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337560" y="5093208"/>
            <a:ext cx="2743200" cy="384048"/>
          </a:xfrm>
          <a:prstGeom prst="rect">
            <a:avLst/>
          </a:prstGeom>
          <a:solidFill>
            <a:srgbClr val="1A203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47288" y="509320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счётчик или нет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080760" y="5093208"/>
            <a:ext cx="2743200" cy="384048"/>
          </a:xfrm>
          <a:prstGeom prst="rect">
            <a:avLst/>
          </a:prstGeom>
          <a:solidFill>
            <a:srgbClr val="1A203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90488" y="509320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виде платного модуля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823960" y="5093208"/>
            <a:ext cx="3520440" cy="384048"/>
          </a:xfrm>
          <a:prstGeom prst="rect">
            <a:avLst/>
          </a:prstGeom>
          <a:solidFill>
            <a:srgbClr val="1E161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33688" y="5093208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журнал + детализация по обжигу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02920" y="5477256"/>
            <a:ext cx="2834640" cy="384048"/>
          </a:xfrm>
          <a:prstGeom prst="rect">
            <a:avLst/>
          </a:prstGeom>
          <a:solidFill>
            <a:srgbClr val="151B2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2648" y="5477256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 программ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337560" y="5477256"/>
            <a:ext cx="2743200" cy="384048"/>
          </a:xfrm>
          <a:prstGeom prst="rect">
            <a:avLst/>
          </a:prstGeom>
          <a:solidFill>
            <a:srgbClr val="151B2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447288" y="547725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ввод с панели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080760" y="5477256"/>
            <a:ext cx="2743200" cy="384048"/>
          </a:xfrm>
          <a:prstGeom prst="rect">
            <a:avLst/>
          </a:prstGeom>
          <a:solidFill>
            <a:srgbClr val="151B2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90488" y="547725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ПК-приложение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8823960" y="5477256"/>
            <a:ext cx="3520440" cy="384048"/>
          </a:xfrm>
          <a:prstGeom prst="rect">
            <a:avLst/>
          </a:prstGeom>
          <a:solidFill>
            <a:srgbClr val="180F08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933688" y="5477256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браузере, открытый JSON-формат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02920" y="5861304"/>
            <a:ext cx="2834640" cy="384048"/>
          </a:xfrm>
          <a:prstGeom prst="rect">
            <a:avLst/>
          </a:prstGeom>
          <a:solidFill>
            <a:srgbClr val="1A203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2648" y="586130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прошивки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337560" y="5861304"/>
            <a:ext cx="2743200" cy="384048"/>
          </a:xfrm>
          <a:prstGeom prst="rect">
            <a:avLst/>
          </a:prstGeom>
          <a:solidFill>
            <a:srgbClr val="1A203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47288" y="586130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 сервисе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080760" y="5861304"/>
            <a:ext cx="2743200" cy="384048"/>
          </a:xfrm>
          <a:prstGeom prst="rect">
            <a:avLst/>
          </a:prstGeom>
          <a:solidFill>
            <a:srgbClr val="1A203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90488" y="586130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кабелю / специальной утилитой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8823960" y="5861304"/>
            <a:ext cx="3520440" cy="384048"/>
          </a:xfrm>
          <a:prstGeom prst="rect">
            <a:avLst/>
          </a:prstGeom>
          <a:solidFill>
            <a:srgbClr val="1E1610"/>
          </a:solidFill>
          <a:ln w="6350">
            <a:solidFill>
              <a:srgbClr val="2E365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933688" y="5861304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через веб-интерфейс, в IDLE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502920" y="6318504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отражает общую картину рынка контроллеров для электрических печей обжига. Конкретные производители и модели не упомянуты намеренно.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41148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Proforge Kiln Controller  •  OEM-предложение  •  2026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ДЛЯ ПАРТНЁРА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производитель печи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097280" cy="36576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83080"/>
            <a:ext cx="3794760" cy="219456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379476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03911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2651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Российская разработка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4088" y="31546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Схемотехника и ПО полностью разработаны в России. Поддержка и обновления — на стороне отечественной команды, без санкционных рисков.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16552" y="1783080"/>
            <a:ext cx="3794760" cy="219456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16552" y="1783080"/>
            <a:ext cx="379476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03911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2651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выход на рынок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17720" y="31546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цикла разработки контроллера в производственной линейке. Сразу — современный продукт.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330184" y="1783080"/>
            <a:ext cx="3794760" cy="219456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0184" y="1783080"/>
            <a:ext cx="379476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03911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31352" y="2651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рекламаций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531352" y="31546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Раннее обнаружение износа спирали, защита от перегрева, прозрачная история обжигов снижают спорные случаи.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02920" y="4096512"/>
            <a:ext cx="3794760" cy="219456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02920" y="4096512"/>
            <a:ext cx="379476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352544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4088" y="49651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Премиум-образ бренда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04088" y="546811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Веб-интерфейс, облако и уведомления — заметная для конечного клиента современность. Это аргумент в продажах печи.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416552" y="4096512"/>
            <a:ext cx="3794760" cy="219456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416552" y="4096512"/>
            <a:ext cx="379476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352544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617720" y="49651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Простое обслуживание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617720" y="546811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Сервисное меню с калибровкой и диагностикой, журнал событий, диагностический экран — меньше выездов.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330184" y="4096512"/>
            <a:ext cx="3794760" cy="219456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30184" y="4096512"/>
            <a:ext cx="3794760" cy="45720"/>
          </a:xfrm>
          <a:prstGeom prst="rect">
            <a:avLst/>
          </a:prstGeom>
          <a:solidFill>
            <a:srgbClr val="FF7A1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4352544"/>
            <a:ext cx="502920" cy="5029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531352" y="49651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Чёткая зона ответственности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8531352" y="546811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Электробезопасность и монтаж — у OEM, контроллер и его обновления — у нас. Документация и регламент уже подготовлены.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41148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Proforge Kiln Controller  •  OEM-предложение  •  2026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Запустим совместный пилот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одной модели печи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91440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918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Передаём образец контроллера, готовим заводскую конфигурацию под выбранную модель печи и проводим серию тестовых обжигов вместе с вашими инженерами.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778240" y="777240"/>
            <a:ext cx="3063240" cy="384048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0" y="777240"/>
            <a:ext cx="3063240" cy="64008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9" name="Text 7"/>
          <p:cNvSpPr/>
          <p:nvPr/>
        </p:nvSpPr>
        <p:spPr>
          <a:xfrm>
            <a:off x="9034272" y="103327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ВОПРОСУ СОТРУДНИЧЕСТВА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034272" y="1417320"/>
            <a:ext cx="2551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ООО «ИНСИ»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034272" y="1920240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г. Воронеж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34272" y="2377440"/>
            <a:ext cx="731520" cy="27432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13" name="Text 11"/>
          <p:cNvSpPr/>
          <p:nvPr/>
        </p:nvSpPr>
        <p:spPr>
          <a:xfrm>
            <a:off x="9034272" y="251460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034272" y="2770632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+7 960 130-34-59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034272" y="338328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Электронная почта</a:t>
            </a:r>
            <a:endParaRPr lang="en-US" sz="1000" dirty="0"/>
          </a:p>
        </p:txBody>
      </p:sp>
      <p:sp>
        <p:nvSpPr>
          <p:cNvPr id="16" name="Text 14">
            <a:hlinkClick r:id="rId1" tooltip=""/>
          </p:cNvPr>
          <p:cNvSpPr/>
          <p:nvPr/>
        </p:nvSpPr>
        <p:spPr>
          <a:xfrm>
            <a:off x="9034272" y="3639312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md@proforge.ru</a:t>
            </a:r>
            <a:endParaRPr lang="en-US" sz="1800" dirty="0"/>
          </a:p>
        </p:txBody>
      </p:sp>
      <p:sp>
        <p:nvSpPr>
          <p:cNvPr id="17" name="Text 15">
            <a:hlinkClick r:id="rId2" tooltip=""/>
          </p:cNvPr>
          <p:cNvSpPr/>
          <p:nvPr/>
        </p:nvSpPr>
        <p:spPr>
          <a:xfrm>
            <a:off x="9034272" y="4160520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proforge.ru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3703320" cy="141732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892040"/>
            <a:ext cx="64008" cy="14173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029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созвон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5760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Согласуем модельный ряд, мощности, температуры, число программ и фирменный стиль интерфейса.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4892040"/>
            <a:ext cx="3703320" cy="141732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4892040"/>
            <a:ext cx="64008" cy="14173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5029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09160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Образец и интеграция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5760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Готовим прошивку под выбранную модель, передаём комплект и помогаем с монтажом.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21040" y="4892040"/>
            <a:ext cx="3703320" cy="1417320"/>
          </a:xfrm>
          <a:prstGeom prst="rect">
            <a:avLst/>
          </a:prstGeom>
          <a:solidFill>
            <a:srgbClr val="1A2030"/>
          </a:solidFill>
          <a:ln w="9525">
            <a:solidFill>
              <a:srgbClr val="2E3650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21040" y="4892040"/>
            <a:ext cx="64008" cy="14173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30" name="Text 28"/>
          <p:cNvSpPr/>
          <p:nvPr/>
        </p:nvSpPr>
        <p:spPr>
          <a:xfrm>
            <a:off x="8549640" y="5029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49640" y="5394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Пилотный обжиг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49640" y="5760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Серия совместных тестов, отчёт по защитам и истории обжигов, корректировка параметров под ваш типовой режим.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Proforge Kiln Controller  •  OEM-партнёрство  •  обсуждается индивидуально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Proforge Kiln Controller — OEM pitch</dc:title>
  <dc:subject>PptxGenJS Presentation</dc:subject>
  <dc:creator>Proforge</dc:creator>
  <cp:lastModifiedBy>Proforge</cp:lastModifiedBy>
  <cp:revision>1</cp:revision>
  <dcterms:created xsi:type="dcterms:W3CDTF">2026-06-30T08:22:38Z</dcterms:created>
  <dcterms:modified xsi:type="dcterms:W3CDTF">2026-06-30T08:22:38Z</dcterms:modified>
</cp:coreProperties>
</file>