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636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4507992" cy="6858000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01168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OEM-ПРЕДЛОЖЕНИЕ  • 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1000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0080" y="1874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 обжига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 поколения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640080" y="3657600"/>
            <a:ext cx="822960" cy="457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79476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Безопасность, глубокая диагностика и цифровой опыт — готовый модуль для производителей электрических печей. Полностью спроектирован и разработан в России.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539496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232A3D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94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Разработано в России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5394960"/>
            <a:ext cx="2194560" cy="411480"/>
          </a:xfrm>
          <a:prstGeom prst="roundRect">
            <a:avLst>
              <a:gd name="adj" fmla="val 13333"/>
            </a:avLst>
          </a:prstGeom>
          <a:solidFill>
            <a:srgbClr val="232A3D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5394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1300 °C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949440" y="5394960"/>
            <a:ext cx="2852928" cy="411480"/>
          </a:xfrm>
          <a:prstGeom prst="roundRect">
            <a:avLst>
              <a:gd name="adj" fmla="val 13333"/>
            </a:avLst>
          </a:prstGeom>
          <a:solidFill>
            <a:srgbClr val="232A3D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5394960"/>
            <a:ext cx="2852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+ облако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OEM-партнёров   •   Версия v1.5.x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430000" y="6217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СИТУАЦИЯ НА РЫНКЕ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нише электрических печей обжига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534924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783080"/>
            <a:ext cx="64008" cy="214884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0574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203911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как стандарт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Конечный заказчик ждёт защиту от перегрева, отказа датчика, залипания силового ключа и износа спирали — не как опцию, а как базу.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783080"/>
            <a:ext cx="534924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55080" y="1783080"/>
            <a:ext cx="64008" cy="214884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05740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203911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Цифровой опыт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6629400" y="26974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веб-интерфейс, удалённый мониторинг и облако становятся новой нормой даже для небольших мастерских и учебных классов.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2920" y="4160520"/>
            <a:ext cx="534924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4160520"/>
            <a:ext cx="64008" cy="214884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43484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17320" y="441655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Премиум-функции по разумной цене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777240" y="50749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бюджетных моделей ждут «умного» поведения: история обжигов, конструктор программ, уведомления о завершении и авариях.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355080" y="4160520"/>
            <a:ext cx="534924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55080" y="4160520"/>
            <a:ext cx="64008" cy="214884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43484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69480" y="441655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Простота для оператора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629400" y="50749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Керамист или художник — не инженер. Контроллер должен прощать ошибки, ясно сообщать о состоянии и не требовать обучения.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OEM-модуль для вашей печи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 собран как самостоятельный продукт уровня премиум — но поставляется производителю печей как единый модуль с настройкой под конкретную модель.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5303520" cy="27889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3474720"/>
            <a:ext cx="64008" cy="27889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построения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40233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Полностью российская разработка: схемотехника и ПО.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нагрев не зависят от UI, сети и сервисных функций.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любой неопределённости контроллер останавливает нагрев.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модель печи — отдельная заводская конфигурация.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Облачные сервисы — publish-only: команды снаружи в печь не идут.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0760" y="1783080"/>
            <a:ext cx="292608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01168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30936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309360" y="30175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Двухуровневое отключение,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логика, защёлка аварии.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189720" y="1783080"/>
            <a:ext cx="292608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01168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41832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9418320" y="30175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тока и термопары,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раннее обнаружение износа.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080760" y="4160520"/>
            <a:ext cx="292608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38912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09360" y="4983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309360" y="53949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веб-интерфейс,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программ, история.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9189720" y="4160520"/>
            <a:ext cx="292608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38912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418320" y="4983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OEM-интеграция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9418320" y="53949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плата, настройка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модель, простой монтаж.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независимых размыкателя силовой цепи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канал самостоятельно способен разорвать цепь нагревателя. При любой критической ошибке отключаются оба.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5532120" cy="342900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2834640"/>
            <a:ext cx="64008" cy="3429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01752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1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301752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3337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Твердотельное реле (SSR)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794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Программный канал — точное регулирование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4206240"/>
            <a:ext cx="5074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 модулирует мощность медленным PWM, минимально нагружая SSR и сетевую цепь. ПИД-алгоритм удерживает уставку без перерегулирования и предсказуемо реагирует на возмущения.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63640" y="2834640"/>
            <a:ext cx="5532120" cy="342900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63640" y="2834640"/>
            <a:ext cx="64008" cy="3429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301752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2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301752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92240" y="3337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Механическое реле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6492240" y="3794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Аварийный размыкатель — независимый канал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92240" y="4206240"/>
            <a:ext cx="5074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Нормально разомкнутое механическое реле полностью разрывает силовую цепь при любой критической неисправности или потере питания. Программный канал не может включить нагрев в обход аварийного реле.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263640" y="1783080"/>
            <a:ext cx="5532120" cy="914400"/>
          </a:xfrm>
          <a:prstGeom prst="rect">
            <a:avLst/>
          </a:prstGeom>
          <a:solidFill>
            <a:srgbClr val="232A3D"/>
          </a:solidFill>
          <a:ln w="9525">
            <a:solidFill>
              <a:srgbClr val="2E3650"/>
            </a:solidFill>
            <a:prstDash val="solid"/>
          </a:ln>
          <a:effectLst>
            <a:outerShdw blurRad="101600" dist="254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965960"/>
            <a:ext cx="594360" cy="59436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78040" y="18288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«Лучше безопасно остановиться,</a:t>
            </a:r>
            <a:endParaRPr lang="en-US" sz="1400" dirty="0"/>
          </a:p>
          <a:p>
            <a:pPr marL="0" indent="0">
              <a:buNone/>
            </a:pPr>
            <a:r>
              <a:rPr lang="en-US" sz="1400" b="1" i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догадаться и пережечь»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К ОБЖИГУ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Самотестирование перед каждым включением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 физически не имеет права включить нагрев, пока не пройден полный SELFTEST. Это устраняет «незаметные» отказы оборудования между обжигами.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6400800" cy="35204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2743200"/>
            <a:ext cx="64008" cy="352044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проверяется автоматически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Файловая система и целостность конфигурации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температуры и валидность термопары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управления (нет залипания)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контроля тока и связь с ним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Утечка тока в выключенном состоянии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Срабатывание SSR и контактора, замер эталонного тока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 реального времени и условия восстановления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78040" y="2743200"/>
            <a:ext cx="4617720" cy="16459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297180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9718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Эталон тока на месте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406640" y="352044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 сам замеряет реальный ток конкретного нагревателя и использует его как эталон для контроля износа. Калибровка не может изменить класс печи.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4526280"/>
            <a:ext cx="4617720" cy="17373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75488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001000" y="4754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после сбоя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7406640" y="53035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Перерыв до 5 минут — печь автоматически продолжает обжиг с проверкой согласованности. Дольше — решение принимает оператор: продолжить или сбросить. Любая авария или штатная остановка делают восстановление недоступным.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ЗАЩИТЫ В РЕАЛЬНОМ ВРЕМЕНИ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категорий критических ошибок → немедленный STOP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691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91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892808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04088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Абсолютный перегрев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4088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Жёсткий порог — печь не уйдёт за конструктивный предел.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29000" y="1691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29000" y="1691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892808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30168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Перегрев относительно уставки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630168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Программный разгон выше заданной кривой пресекается.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355080" y="1691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1691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892808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556248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датчика температуры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556248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fault-битов и согласованности показаний.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9281160" y="1691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281160" y="1691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2328" y="1892808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482328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Залипание силового ключа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482328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тока при выключенном нагреве.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502920" y="3977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02920" y="3977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178808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04088" y="4690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Обрыв цепи нагревателя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04088" y="5349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тока на полной мощности — без нагрева нет тока.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3429000" y="3977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3429000" y="3977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0168" y="4178808"/>
            <a:ext cx="411480" cy="41148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3630168" y="4690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деградация спирали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3630168" y="5349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 ниже эталонной границы — обжиг останавливается.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6355080" y="3977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355080" y="3977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6248" y="4178808"/>
            <a:ext cx="411480" cy="41148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556248" y="4690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Зависание датчика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556248" y="5349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Температура «не дышит» при активном нагреве.</a:t>
            </a:r>
            <a:endParaRPr 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9281160" y="3977640"/>
            <a:ext cx="2788920" cy="214884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9281160" y="3977640"/>
            <a:ext cx="278892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4178808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482328" y="4690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Аномальная динамика температуры</a:t>
            </a:r>
            <a:endParaRPr lang="en-US" sz="1250" dirty="0"/>
          </a:p>
        </p:txBody>
      </p:sp>
      <p:sp>
        <p:nvSpPr>
          <p:cNvPr id="45" name="Text 35"/>
          <p:cNvSpPr/>
          <p:nvPr/>
        </p:nvSpPr>
        <p:spPr>
          <a:xfrm>
            <a:off x="9482328" y="5349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Резкие провалы и срывы режима фиксируются и пресекаются.</a:t>
            </a:r>
            <a:endParaRPr lang="en-US" sz="950" dirty="0"/>
          </a:p>
        </p:txBody>
      </p:sp>
      <p:sp>
        <p:nvSpPr>
          <p:cNvPr id="46" name="Text 36"/>
          <p:cNvSpPr/>
          <p:nvPr/>
        </p:nvSpPr>
        <p:spPr>
          <a:xfrm>
            <a:off x="502920" y="61722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Дополнительно: предупреждения без остановки — ранняя деградация спирали, перегрев электроники, медленный разгон. Оператор знает заранее.</a:t>
            </a:r>
            <a:endParaRPr lang="en-US" sz="1000" dirty="0"/>
          </a:p>
        </p:txBody>
      </p:sp>
      <p:sp>
        <p:nvSpPr>
          <p:cNvPr id="47" name="Text 37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48" name="Text 38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ЦИФРОВОЙ ОПЫТ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веб-интерфейс, история обжигов и облако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Современный контроллер дополняет физическую панель: дистанционный мониторинг, журнал обжигов, удалённые уведомления — без риска для контура безопасности.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3703320" cy="178308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94436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2926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2.4 ГГц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4088" y="352044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локальной сети владельца. Внешняя антенна для металлических корпусов.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2743200"/>
            <a:ext cx="3703320" cy="178308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568" y="2944368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2926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44568" y="352044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 температуры, тока, состояния и программы. Доступен с телефона, планшета, ПК.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83880" y="2743200"/>
            <a:ext cx="3703320" cy="178308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2944368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06840" y="2926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программ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385048" y="352044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и правка программ обжига в браузере. Открытый формат — легко переносить и архивировать.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4663440"/>
            <a:ext cx="3703320" cy="178308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864608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25880" y="4846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обжигов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704088" y="5440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стартов, завершений и аварий с параметрами. Помогает разбирать инциденты и обучать персонал.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343400" y="4663440"/>
            <a:ext cx="3703320" cy="178308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4568" y="4864608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166360" y="4846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Облачные уведомления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4544568" y="5440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Уведомления о старте, завершении и аварии. Облако только публикует — снаружи в печь команды не идут.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8183880" y="4663440"/>
            <a:ext cx="3703320" cy="178308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5048" y="4864608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006840" y="4846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OTA-обновление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8385048" y="5440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прошивки только вручную и только из IDLE. Никаких автоматических апдейтов в RUN.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 ОБЖИГА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профили нагрева — для готовых линеек и заказчиков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программы: «Керамика 1150» — типовой цикл бисквит + утиль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6949440" cy="36576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СКОРОСТЬ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ВЫДЕРЖКА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ФАЗА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 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Сушка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40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мин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Прогрев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80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мин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Дегазация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1 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Уплотнение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Обжиг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Охлаждение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−150 °C/ч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F6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Финиш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6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18120" y="1783080"/>
            <a:ext cx="4023360" cy="14173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101600" dist="254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96596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95360" y="19476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в браузере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01000" y="25146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— последовательность сегментов RAMP/HOLD. Создать, проверить, поделиться файлом.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818120" y="3337560"/>
            <a:ext cx="4023360" cy="14173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101600" dist="254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5204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595360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Заводские профили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00100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бренд OEM можно поставлять готовый набор «официальных» программ для типовых задач.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818120" y="4892040"/>
            <a:ext cx="4023360" cy="14173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101600" dist="254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507492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50566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запуска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001000" y="56235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программы — только с физической панели. Сеть и облако никогда не включают нагрев.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OEM-ИНТЕГРАЦИЯ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модуль — минимум работы со стороны производителя печи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6858000" cy="4480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783080"/>
            <a:ext cx="64008" cy="448056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920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 в OEM-поставку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2542032"/>
            <a:ext cx="201168" cy="20116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46888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плата контроллера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встроенным AC-DC питанием 220 В, аварийным контактором, модулем контроля тока и Wi-Fi с внешней антенной.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3319272"/>
            <a:ext cx="201168" cy="20116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24612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Заводская прошивка под модель печи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66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модель печи — отдельная конфигурация: максимальная температура, мощность, пороги защит, набор программ. Калибровка не может изменить класс печи.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096512"/>
            <a:ext cx="201168" cy="20116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02336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Готовые программы под бренд OEM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43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 «официальных» профилей (керамика, эмаль, стекло, ювелирные задачи) поставляется вместе с устройством.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" y="4873752"/>
            <a:ext cx="201168" cy="20116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80060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документация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206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по эксплуатации и техническое описание для интегратора — на русском, с маркетинговой косметикой под бренд OEM.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5650992"/>
            <a:ext cx="201168" cy="20116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55778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Облачные сервисы из коробки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5897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печи через QR; владелец видит свою печь в «Мои печи». Без отдельных лицензий и серверов на стороне OEM.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35240" y="1783080"/>
            <a:ext cx="4206240" cy="4480560"/>
          </a:xfrm>
          <a:prstGeom prst="rect">
            <a:avLst/>
          </a:prstGeom>
          <a:solidFill>
            <a:srgbClr val="232A3D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920240"/>
            <a:ext cx="502920" cy="5029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412480" y="19202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Зона ответственности OEM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818120" y="2606040"/>
            <a:ext cx="39319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Корпус печи и теплоизоляция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Нагревательная спираль выбранного класса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SSR и его теплоотвод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Силовая разводка, автомат и УЗО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Заземление и соответствие электронормам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сборка и приёмка по чек-листу производителя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Российский рынок и мировой премиум-уровень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27632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Российские контроллеры печей обжига как класс не имеют сетевых сервисов. Зарубежный премиум-сегмент закрывает часть этих задач за заметные деньги. Proforge Kiln Controller выводит весь набор функций на мировой премиум-уровень — при этом полностью разработан в России.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31720"/>
            <a:ext cx="2834640" cy="457200"/>
          </a:xfrm>
          <a:prstGeom prst="rect">
            <a:avLst/>
          </a:prstGeom>
          <a:solidFill>
            <a:srgbClr val="232A3D"/>
          </a:solidFill>
          <a:ln w="9525">
            <a:solidFill>
              <a:srgbClr val="2E36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331720"/>
            <a:ext cx="2615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2331720"/>
            <a:ext cx="2743200" cy="457200"/>
          </a:xfrm>
          <a:prstGeom prst="rect">
            <a:avLst/>
          </a:prstGeom>
          <a:solidFill>
            <a:srgbClr val="232A3D"/>
          </a:solidFill>
          <a:ln w="9525">
            <a:solidFill>
              <a:srgbClr val="2E36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23317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РФ-РЫНОК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2331720"/>
            <a:ext cx="2743200" cy="457200"/>
          </a:xfrm>
          <a:prstGeom prst="rect">
            <a:avLst/>
          </a:prstGeom>
          <a:solidFill>
            <a:srgbClr val="232A3D"/>
          </a:solidFill>
          <a:ln w="9525">
            <a:solidFill>
              <a:srgbClr val="2E36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0488" y="23317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ЗАРУБЕЖНЫЙ ПРЕМИУМ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823960" y="2331720"/>
            <a:ext cx="3520440" cy="457200"/>
          </a:xfrm>
          <a:prstGeom prst="rect">
            <a:avLst/>
          </a:prstGeom>
          <a:solidFill>
            <a:srgbClr val="2E1A0E"/>
          </a:solidFill>
          <a:ln w="9525">
            <a:solidFill>
              <a:srgbClr val="2E36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3960" y="2331720"/>
            <a:ext cx="3520440" cy="457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15" name="Text 13"/>
          <p:cNvSpPr/>
          <p:nvPr/>
        </p:nvSpPr>
        <p:spPr>
          <a:xfrm>
            <a:off x="8933688" y="233172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788920"/>
            <a:ext cx="283464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278892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тока нагревателя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37560" y="2788920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278892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правило отсутствует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2788920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0488" y="278892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 как опция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23960" y="2788920"/>
            <a:ext cx="3520440" cy="384048"/>
          </a:xfrm>
          <a:prstGeom prst="rect">
            <a:avLst/>
          </a:prstGeom>
          <a:solidFill>
            <a:srgbClr val="1E161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788920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Базово: обрыв, залипание, износ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172968"/>
            <a:ext cx="283464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" y="3172968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Двухуровневое отключение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37560" y="3172968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47288" y="3172968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Чаще один канал (SSR/реле)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3172968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0488" y="3172968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Встречается в премиум-моделях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23960" y="3172968"/>
            <a:ext cx="3520440" cy="384048"/>
          </a:xfrm>
          <a:prstGeom prst="rect">
            <a:avLst/>
          </a:prstGeom>
          <a:solidFill>
            <a:srgbClr val="180F0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33688" y="3172968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Стандарт: SSR + аварийный контактор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3557016"/>
            <a:ext cx="283464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3557016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Самотестирование перед стартом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337560" y="3557016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47288" y="3557016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или формальная проверка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80760" y="3557016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90488" y="3557016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проверка датчиков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823960" y="3557016"/>
            <a:ext cx="3520440" cy="384048"/>
          </a:xfrm>
          <a:prstGeom prst="rect">
            <a:avLst/>
          </a:prstGeom>
          <a:solidFill>
            <a:srgbClr val="1E161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33688" y="3557016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SELFTEST оборудования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3941064"/>
            <a:ext cx="283464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648" y="3941064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Защёлка аварии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37560" y="3941064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47288" y="394106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 авторестарт после остывания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80760" y="3941064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0488" y="394106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Реализовано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823960" y="3941064"/>
            <a:ext cx="3520440" cy="384048"/>
          </a:xfrm>
          <a:prstGeom prst="rect">
            <a:avLst/>
          </a:prstGeom>
          <a:solidFill>
            <a:srgbClr val="180F0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33688" y="3941064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Жёсткая блокировка до подтверждения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02920" y="4325112"/>
            <a:ext cx="283464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2648" y="4325112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/ веб-интерфейс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337560" y="4325112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47288" y="432511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Отсутствует у большинства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080760" y="4325112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90488" y="4325112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Опция за доплату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823960" y="4325112"/>
            <a:ext cx="3520440" cy="384048"/>
          </a:xfrm>
          <a:prstGeom prst="rect">
            <a:avLst/>
          </a:prstGeom>
          <a:solidFill>
            <a:srgbClr val="1E161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33688" y="432511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Включено в стандарт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02920" y="4709160"/>
            <a:ext cx="283464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2648" y="4709160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Облачный мониторинг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337560" y="4709160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447288" y="470916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Практически не представлен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080760" y="4709160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90488" y="470916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Платная подписка / экосистема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823960" y="4709160"/>
            <a:ext cx="3520440" cy="384048"/>
          </a:xfrm>
          <a:prstGeom prst="rect">
            <a:avLst/>
          </a:prstGeom>
          <a:solidFill>
            <a:srgbClr val="180F0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33688" y="4709160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Включён, без отдельной оплаты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2920" y="5093208"/>
            <a:ext cx="283464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2648" y="5093208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обжигов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337560" y="5093208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447288" y="5093208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Локальный счётчик или нет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080760" y="5093208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0488" y="5093208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виде платного модуля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823960" y="5093208"/>
            <a:ext cx="3520440" cy="384048"/>
          </a:xfrm>
          <a:prstGeom prst="rect">
            <a:avLst/>
          </a:prstGeom>
          <a:solidFill>
            <a:srgbClr val="1E161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933688" y="5093208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+ детализация по обжигу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02920" y="5477256"/>
            <a:ext cx="283464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2648" y="5477256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программ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337560" y="5477256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447288" y="5477256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ввод с панели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080760" y="5477256"/>
            <a:ext cx="2743200" cy="384048"/>
          </a:xfrm>
          <a:prstGeom prst="rect">
            <a:avLst/>
          </a:prstGeom>
          <a:solidFill>
            <a:srgbClr val="151B2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90488" y="5477256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ПК-приложение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823960" y="5477256"/>
            <a:ext cx="3520440" cy="384048"/>
          </a:xfrm>
          <a:prstGeom prst="rect">
            <a:avLst/>
          </a:prstGeom>
          <a:solidFill>
            <a:srgbClr val="180F08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933688" y="5477256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браузере, открытый JSON-формат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502920" y="5861304"/>
            <a:ext cx="283464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2648" y="5861304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прошивки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337560" y="5861304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47288" y="586130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в сервисе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080760" y="5861304"/>
            <a:ext cx="2743200" cy="384048"/>
          </a:xfrm>
          <a:prstGeom prst="rect">
            <a:avLst/>
          </a:prstGeom>
          <a:solidFill>
            <a:srgbClr val="1A203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190488" y="586130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кабелю / специальной утилитой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8823960" y="5861304"/>
            <a:ext cx="3520440" cy="384048"/>
          </a:xfrm>
          <a:prstGeom prst="rect">
            <a:avLst/>
          </a:prstGeom>
          <a:solidFill>
            <a:srgbClr val="1E1610"/>
          </a:solidFill>
          <a:ln w="6350">
            <a:solidFill>
              <a:srgbClr val="2E36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33688" y="5861304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 через веб-интерфейс, в IDLE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502920" y="631850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отражает общую картину рынка контроллеров для электрических печей обжига. Конкретные производители и модели не упомянуты намеренно.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ЦЕННОСТЬ ДЛЯ ПАРТНЁРА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получает производитель печи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097280" cy="36576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379476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783080"/>
            <a:ext cx="379476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39112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04088" y="2651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Российская разработка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" y="31546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Схемотехника и ПО полностью разработаны в России. Поддержка и обновления — на стороне отечественной команды, без санкционных рисков.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16552" y="1783080"/>
            <a:ext cx="379476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16552" y="1783080"/>
            <a:ext cx="379476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039112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17720" y="2651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выход на рынок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17720" y="31546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цикла разработки контроллера в производственной линейке. Сразу — современный продукт.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30184" y="1783080"/>
            <a:ext cx="379476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30184" y="1783080"/>
            <a:ext cx="379476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2039112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31352" y="2651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рекламаций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531352" y="31546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Раннее обнаружение износа спирали, защита от перегрева, прозрачная история обжигов снижают спорные случаи.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" y="4096512"/>
            <a:ext cx="379476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02920" y="4096512"/>
            <a:ext cx="379476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352544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04088" y="49651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Премиум-образ бренда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04088" y="546811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Веб-интерфейс, облако и уведомления — заметная для конечного клиента современность. Это аргумент в продажах печи.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16552" y="4096512"/>
            <a:ext cx="379476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416552" y="4096512"/>
            <a:ext cx="379476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4352544"/>
            <a:ext cx="502920" cy="5029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17720" y="49651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Простое обслуживание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617720" y="546811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Сервисное меню с калибровкой и диагностикой, журнал событий, диагностический экран — меньше выездов.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330184" y="4096512"/>
            <a:ext cx="3794760" cy="219456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30184" y="4096512"/>
            <a:ext cx="3794760" cy="45720"/>
          </a:xfrm>
          <a:prstGeom prst="rect">
            <a:avLst/>
          </a:prstGeom>
          <a:solidFill>
            <a:srgbClr val="FF7A1A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1352" y="4352544"/>
            <a:ext cx="502920" cy="5029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31352" y="49651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Чёткая зона ответственности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531352" y="546811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Электробезопасность и монтаж — у OEM, контроллер и его обновления — у нас. Документация и регламент уже подготовлены.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41148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OEM-предложение  •  2026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Запустим совместный пилот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одной модели печи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914400" cy="457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52044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Передаём образец контроллера, готовим заводскую конфигурацию под выбранную модель печи и проводим серию тестовых обжигов вместе с вашими инженерами.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937760"/>
            <a:ext cx="3657600" cy="14173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4937760"/>
            <a:ext cx="64008" cy="14173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074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5440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Технический созвон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58064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Согласуем модельный ряд, мощности, температуры, число программ и фирменный стиль интерфейса.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34840" y="4937760"/>
            <a:ext cx="3657600" cy="14173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4937760"/>
            <a:ext cx="64008" cy="14173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5074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5440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Образец и интеграция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58064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Готовим прошивку под выбранную модель, передаём комплект и помогаем с монтажом.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0" y="4937760"/>
            <a:ext cx="3657600" cy="1417320"/>
          </a:xfrm>
          <a:prstGeom prst="rect">
            <a:avLst/>
          </a:prstGeom>
          <a:solidFill>
            <a:srgbClr val="1A2030"/>
          </a:solidFill>
          <a:ln w="9525">
            <a:solidFill>
              <a:srgbClr val="2E3650"/>
            </a:solidFill>
            <a:prstDash val="solid"/>
          </a:ln>
          <a:effectLst>
            <a:outerShdw blurRad="203200" dist="508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4937760"/>
            <a:ext cx="64008" cy="1417320"/>
          </a:xfrm>
          <a:prstGeom prst="rect">
            <a:avLst/>
          </a:prstGeom>
          <a:solidFill>
            <a:srgbClr val="FF7A1A"/>
          </a:solidFill>
          <a:ln/>
        </p:spPr>
      </p:sp>
      <p:sp>
        <p:nvSpPr>
          <p:cNvPr id="19" name="Text 17"/>
          <p:cNvSpPr/>
          <p:nvPr/>
        </p:nvSpPr>
        <p:spPr>
          <a:xfrm>
            <a:off x="8458200" y="5074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58200" y="5440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Пилотный обжиг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58064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Серия совместных тестов, отчёт по защитам и истории обжигов, корректировка параметров под ваш типовой режим.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6537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Proforge Kiln Controller  •  OEM-партнёрство  •  обсуждается индивидуально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1653</Words>
  <Application>Microsoft Office PowerPoint</Application>
  <PresentationFormat>Широкоэкранный</PresentationFormat>
  <Paragraphs>277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Proforge Kiln Controller — OEM pitch</dc:title>
  <dc:subject>PptxGenJS Presentation</dc:subject>
  <dc:creator>Proforge</dc:creator>
  <cp:lastModifiedBy>Maxim Duhanin</cp:lastModifiedBy>
  <cp:revision>1</cp:revision>
  <dcterms:created xsi:type="dcterms:W3CDTF">2026-06-05T09:54:09Z</dcterms:created>
  <dcterms:modified xsi:type="dcterms:W3CDTF">2026-06-05T09:59:45Z</dcterms:modified>
</cp:coreProperties>
</file>